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75" r:id="rId13"/>
    <p:sldId id="266" r:id="rId14"/>
    <p:sldId id="276" r:id="rId15"/>
    <p:sldId id="277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E1D6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B0B4-F85B-642E-A095-5516E7A79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7991D-8104-051E-1F5D-D5D9A9750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649F4-B071-2A9B-7DA1-DB5C6FD7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91567-1A7B-0332-6AF2-E453A411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33789-4ED1-1905-300E-9A15443E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22CC-5ADB-17AA-8BC2-3E013147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A54D6-EA20-409F-E8A5-9A31208A2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03776-BCCE-50B9-769F-718C75D8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271AB-85ED-D43D-4AEA-5273B0305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B2E02-D1AA-8C32-BA94-4A0CE349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4C25-CEA8-5683-F6D4-4C20C65B4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6520F-8E2B-B381-A17E-D5BE9E0BB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2DC82-DFD6-F7EC-1AEF-1DCCF0B0D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ADCF7-C1D9-8DEB-050C-4E3D1E51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A0F00-D0BD-56AF-9784-E4649A4F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77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4BA8-3375-E988-549B-7CA6E84F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105BC-0784-5F4B-9B7F-06BAE239F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25DAF-A853-2456-9B2D-9611B0B43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91E6E-0721-9243-3A6D-3922E4A9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35318-03E3-9B5C-2F8C-8B903398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031F4-75D1-2964-17C8-70EC3351B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7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980D-ABBC-0037-9693-CE11E26B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7830-0395-496A-F2C7-A0314B7DB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29DEB-64A3-205A-3B6C-537807ACB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FE9A8-948F-8A9C-0449-B35BFF689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B80F9-5173-E747-6954-435C3F677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279BA-1668-0C86-21F8-2C619B481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697DF-4B69-8DAC-A305-DCB876766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0E8260-8176-F2BA-61F7-3396C2A3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D433-9A7C-7E96-BD14-B14CBA6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FF21BA-CF86-4627-7831-1E653706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9B73E-4BC9-0E6B-59DD-599DB5C9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755FF9-031F-B937-74C3-22A1D1A30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B9548-0AFC-E586-37A7-D4233B487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38143-A5CC-8571-2C6B-FF53B53FB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E2FDD-E269-34FC-140F-7B5EA2AD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7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58161-42B7-D5D0-7DEC-2503230C6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4830E-14E1-E624-47F1-8F211522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2BFE4-D58A-DA02-0EC1-A836CDB28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269DA-B52F-6BCD-6A73-28CF539AA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1C0E2-B3DA-C0BA-054E-AC742D80F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09B4E-1EE7-E168-0492-57F3A777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8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EC527-C7AF-7C77-B503-1337FB51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1F8C78-9039-AB8E-EFBF-3BB0D3BE6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F0D53-A622-138B-A860-BE7B4D6B37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2F6B8-D352-7BAB-1D3C-E0E581002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D8609-7962-AB02-E978-3A9945FC7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A3E03-1686-3687-DC14-9D84DECD0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74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9ECE-EDB5-68C3-FFCC-8B5F8DC9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C1869-3C13-364F-9D94-5977EF43D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1B98B-F646-6238-EE33-E492C2E4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488F-AC72-F823-FCEA-9A32C24D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E220D-AD82-FEB3-4879-C70A3F85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70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294DC-E742-6729-6223-4E7E41013C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283A-2D51-4FFD-5ED4-0009770A9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41E5F-FD91-56C1-6462-438793E7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054BD-C0BC-57BF-863F-E1482A9C8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0EAA5-B014-71F9-E716-3AC459A81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1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FB535E-BCF2-C2D1-4F59-D4C32765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26B6E-A672-2E46-39C1-EBAC8953F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E481F-A5D7-DE4E-E0D7-D0B9F3705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FFF09-95A3-457C-A437-1205ADF85C2D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64707-52E8-FD93-8372-141BA7913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A5B2D-61B6-1A82-E040-A80C11E9A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3DFFC6-F34F-4CFA-B185-252FF37B2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9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6C24-9BC5-F0B9-0C76-49D4D78A8D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20E1D6"/>
                </a:solidFill>
                <a:latin typeface="Bahnschrift" panose="020B0502040204020203" pitchFamily="34" charset="0"/>
              </a:rPr>
              <a:t>Bike sales analysis</a:t>
            </a:r>
          </a:p>
        </p:txBody>
      </p:sp>
      <p:pic>
        <p:nvPicPr>
          <p:cNvPr id="2050" name="Picture 2" descr="Adventure Works: Analysis Techniques and RFM Model | by Xutiantony | Medium">
            <a:extLst>
              <a:ext uri="{FF2B5EF4-FFF2-40B4-BE49-F238E27FC236}">
                <a16:creationId xmlns:a16="http://schemas.microsoft.com/office/drawing/2014/main" id="{8FDCD402-28C9-F982-DAF8-9FD271808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4230503"/>
            <a:ext cx="4775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bout US – Multi technology System">
            <a:extLst>
              <a:ext uri="{FF2B5EF4-FFF2-40B4-BE49-F238E27FC236}">
                <a16:creationId xmlns:a16="http://schemas.microsoft.com/office/drawing/2014/main" id="{5CFD1DE0-1E51-A2C4-C39C-8DEAAEDA6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75047" cy="223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DEPI – Briefing Report &amp; Ranking">
            <a:extLst>
              <a:ext uri="{FF2B5EF4-FFF2-40B4-BE49-F238E27FC236}">
                <a16:creationId xmlns:a16="http://schemas.microsoft.com/office/drawing/2014/main" id="{288490CB-5237-F84D-9A37-39B31103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1442" y="0"/>
            <a:ext cx="2250558" cy="225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67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9EBA-7A7C-CCE6-EECE-E6A96130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Our 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D6150-0287-F957-DE44-8C64B5A3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</a:rPr>
              <a:t>Yara Said (team leader)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Mahmoud Shaker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Kholoud Mostafa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Abdelhady Hussein </a:t>
            </a:r>
          </a:p>
          <a:p>
            <a:pPr algn="ctr"/>
            <a:r>
              <a:rPr lang="en-US" dirty="0">
                <a:solidFill>
                  <a:srgbClr val="333333"/>
                </a:solidFill>
              </a:rPr>
              <a:t>Amina </a:t>
            </a:r>
            <a:r>
              <a:rPr lang="en-US" dirty="0" err="1">
                <a:solidFill>
                  <a:srgbClr val="333333"/>
                </a:solidFill>
              </a:rPr>
              <a:t>Elshabandy</a:t>
            </a:r>
            <a:endParaRPr lang="en-US" dirty="0">
              <a:solidFill>
                <a:srgbClr val="333333"/>
              </a:solidFill>
            </a:endParaRPr>
          </a:p>
          <a:p>
            <a:pPr algn="ctr"/>
            <a:r>
              <a:rPr lang="en-US" dirty="0">
                <a:solidFill>
                  <a:srgbClr val="333333"/>
                </a:solidFill>
              </a:rPr>
              <a:t>Nour Gad</a:t>
            </a:r>
          </a:p>
          <a:p>
            <a:endParaRPr lang="en-US" dirty="0"/>
          </a:p>
        </p:txBody>
      </p:sp>
      <p:pic>
        <p:nvPicPr>
          <p:cNvPr id="3074" name="Picture 2" descr="DEPI – Briefing Report &amp; Ranking">
            <a:extLst>
              <a:ext uri="{FF2B5EF4-FFF2-40B4-BE49-F238E27FC236}">
                <a16:creationId xmlns:a16="http://schemas.microsoft.com/office/drawing/2014/main" id="{8C6115AC-CDB7-E873-DEE1-E0D5FA80B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dventure Works: Analysis Techniques and RFM Model | by Xutiantony | Medium">
            <a:extLst>
              <a:ext uri="{FF2B5EF4-FFF2-40B4-BE49-F238E27FC236}">
                <a16:creationId xmlns:a16="http://schemas.microsoft.com/office/drawing/2014/main" id="{34B01841-9D9B-84B7-5E2C-A081989C3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70400"/>
            <a:ext cx="4775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8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4A21-B6F8-BBA7-9D78-54085718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0E1D6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1554C-AC5A-360D-05D6-D45AFA01F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Objectives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 err="1">
                <a:solidFill>
                  <a:srgbClr val="333333"/>
                </a:solidFill>
              </a:rPr>
              <a:t>DataSet</a:t>
            </a:r>
            <a:r>
              <a:rPr lang="en-US" dirty="0">
                <a:solidFill>
                  <a:srgbClr val="333333"/>
                </a:solidFill>
              </a:rPr>
              <a:t> Overview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Data cleaning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Data modeling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DAX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Sample visuals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Dashboard samples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Tableau dashboard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</a:rPr>
              <a:t>Key findings</a:t>
            </a:r>
            <a:br>
              <a:rPr lang="en-US" dirty="0"/>
            </a:br>
            <a:endParaRPr lang="en-US" dirty="0"/>
          </a:p>
        </p:txBody>
      </p:sp>
      <p:pic>
        <p:nvPicPr>
          <p:cNvPr id="4098" name="Picture 2" descr="DEPI – Briefing Report &amp; Ranking">
            <a:extLst>
              <a:ext uri="{FF2B5EF4-FFF2-40B4-BE49-F238E27FC236}">
                <a16:creationId xmlns:a16="http://schemas.microsoft.com/office/drawing/2014/main" id="{EDD096FA-759E-77C0-E7A7-D25BB07CD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86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A4DD6-67D9-F6FC-7FB9-404F6AB4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ECA23-956F-DFDA-7944-8B3564D1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333333"/>
                </a:solidFill>
                <a:latin typeface="+mj-lt"/>
              </a:rPr>
              <a:t>This project aims to perform an in-depth analysis of bike sales data obtained from the </a:t>
            </a:r>
            <a:r>
              <a:rPr lang="en-US" b="1" dirty="0" err="1">
                <a:solidFill>
                  <a:srgbClr val="333333"/>
                </a:solidFill>
                <a:latin typeface="+mj-lt"/>
              </a:rPr>
              <a:t>AdventureWorks</a:t>
            </a:r>
            <a:r>
              <a:rPr lang="en-US" b="1" dirty="0">
                <a:solidFill>
                  <a:srgbClr val="333333"/>
                </a:solidFill>
                <a:latin typeface="+mj-lt"/>
              </a:rPr>
              <a:t> dataset, focusing on sales, customers, products, and regional performance. The goal is to develop actionable insights and data-driven visualizations to make higher profit ,to analyze sales performance across products and territories and to evaluate customer purchasing behavior and segment key demographics. </a:t>
            </a:r>
            <a:endParaRPr lang="en-US" dirty="0">
              <a:solidFill>
                <a:srgbClr val="333333"/>
              </a:solidFill>
              <a:latin typeface="+mj-lt"/>
            </a:endParaRPr>
          </a:p>
          <a:p>
            <a:endParaRPr lang="en-US" dirty="0"/>
          </a:p>
        </p:txBody>
      </p:sp>
      <p:pic>
        <p:nvPicPr>
          <p:cNvPr id="5122" name="Picture 2" descr="DEPI – Briefing Report &amp; Ranking">
            <a:extLst>
              <a:ext uri="{FF2B5EF4-FFF2-40B4-BE49-F238E27FC236}">
                <a16:creationId xmlns:a16="http://schemas.microsoft.com/office/drawing/2014/main" id="{C008A1C4-64AC-50B4-FFDA-D947F1A45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37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2E28-8F12-8AB8-C298-B5E8579D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0A543-D7B1-467F-93BB-5B4F6199D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333333"/>
                </a:solidFill>
              </a:rPr>
              <a:t>Dataset from </a:t>
            </a:r>
            <a:r>
              <a:rPr lang="en-US" sz="3200" dirty="0" err="1">
                <a:solidFill>
                  <a:srgbClr val="333333"/>
                </a:solidFill>
              </a:rPr>
              <a:t>Adventureworks</a:t>
            </a:r>
            <a:r>
              <a:rPr lang="en-US" sz="3200" dirty="0">
                <a:solidFill>
                  <a:srgbClr val="333333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333333"/>
                </a:solidFill>
              </a:rPr>
              <a:t>6 (csv ) files </a:t>
            </a:r>
          </a:p>
          <a:p>
            <a:pPr marL="0" indent="0">
              <a:buNone/>
            </a:pPr>
            <a:endParaRPr lang="en-US" dirty="0">
              <a:solidFill>
                <a:srgbClr val="333333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Adventure Works: Analysis Techniques and RFM Model | by Xutiantony | Medium">
            <a:extLst>
              <a:ext uri="{FF2B5EF4-FFF2-40B4-BE49-F238E27FC236}">
                <a16:creationId xmlns:a16="http://schemas.microsoft.com/office/drawing/2014/main" id="{6DCD54BB-930D-6E4A-54FB-809891214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613" y="3002516"/>
            <a:ext cx="6618768" cy="330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PI – Briefing Report &amp; Ranking">
            <a:extLst>
              <a:ext uri="{FF2B5EF4-FFF2-40B4-BE49-F238E27FC236}">
                <a16:creationId xmlns:a16="http://schemas.microsoft.com/office/drawing/2014/main" id="{BD8ED369-BA29-ECBE-FB3F-E04A3D11F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537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BE1A2-6CF8-8752-319F-C3A2DE7D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 Data cleaning using power query in </a:t>
            </a:r>
            <a:r>
              <a:rPr lang="en-US" b="1" dirty="0" err="1"/>
              <a:t>PowerBI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52585-175D-C42D-3F67-AC68F3F5F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Loaded 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Structural Optimization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Data Quality Enhancement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Text Data Processing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Business Logic &amp; Calculations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Data Integration </a:t>
            </a:r>
          </a:p>
        </p:txBody>
      </p:sp>
      <p:pic>
        <p:nvPicPr>
          <p:cNvPr id="6146" name="Picture 2" descr="DEPI – Briefing Report &amp; Ranking">
            <a:extLst>
              <a:ext uri="{FF2B5EF4-FFF2-40B4-BE49-F238E27FC236}">
                <a16:creationId xmlns:a16="http://schemas.microsoft.com/office/drawing/2014/main" id="{CD4F0ADA-7D41-D62A-E78F-D6EF58CFE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495300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95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07EF0-B3BF-A1D5-D9B8-5E7435D5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20E1D6"/>
                </a:solidFill>
              </a:rPr>
              <a:t>Some of the cleaning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87FB1E3-C9E9-099D-8AF9-E6EDE8493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60" t="12177"/>
          <a:stretch>
            <a:fillRect/>
          </a:stretch>
        </p:blipFill>
        <p:spPr>
          <a:xfrm>
            <a:off x="1573441" y="2074589"/>
            <a:ext cx="3179312" cy="387663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8924E9-9A7B-BEAF-22F4-A5BE5A91F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11" t="13704"/>
          <a:stretch>
            <a:fillRect/>
          </a:stretch>
        </p:blipFill>
        <p:spPr>
          <a:xfrm>
            <a:off x="7242897" y="2074589"/>
            <a:ext cx="3179312" cy="3926800"/>
          </a:xfrm>
          <a:prstGeom prst="rect">
            <a:avLst/>
          </a:prstGeom>
        </p:spPr>
      </p:pic>
      <p:pic>
        <p:nvPicPr>
          <p:cNvPr id="7170" name="Picture 2" descr="DEPI – Briefing Report &amp; Ranking">
            <a:extLst>
              <a:ext uri="{FF2B5EF4-FFF2-40B4-BE49-F238E27FC236}">
                <a16:creationId xmlns:a16="http://schemas.microsoft.com/office/drawing/2014/main" id="{3032132A-BB5C-C2B7-C5A7-CC88F31D6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dventure Works: Analysis Techniques and RFM Model | by Xutiantony | Medium">
            <a:extLst>
              <a:ext uri="{FF2B5EF4-FFF2-40B4-BE49-F238E27FC236}">
                <a16:creationId xmlns:a16="http://schemas.microsoft.com/office/drawing/2014/main" id="{21F3A758-5666-002E-AD59-BFB62D2B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82" y="4331070"/>
            <a:ext cx="4775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80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5C13-6F8A-7A64-F05A-3527C3B2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Data modeling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C00F45-C314-7330-872B-5B440FB2A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87" r="933" b="2246"/>
          <a:stretch>
            <a:fillRect/>
          </a:stretch>
        </p:blipFill>
        <p:spPr>
          <a:xfrm>
            <a:off x="1863738" y="2084201"/>
            <a:ext cx="8464524" cy="3795603"/>
          </a:xfrm>
        </p:spPr>
      </p:pic>
      <p:pic>
        <p:nvPicPr>
          <p:cNvPr id="8194" name="Picture 2" descr="DEPI – Briefing Report &amp; Ranking">
            <a:extLst>
              <a:ext uri="{FF2B5EF4-FFF2-40B4-BE49-F238E27FC236}">
                <a16:creationId xmlns:a16="http://schemas.microsoft.com/office/drawing/2014/main" id="{B9C53736-EE67-B0EF-80F5-BD0247C94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371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72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2054-2D35-982D-AC8E-E3822A65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DAX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7995-DA79-01D3-C96B-8725D854A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20E1D6"/>
                </a:solidFill>
              </a:rPr>
              <a:t>Examples: </a:t>
            </a:r>
            <a:endParaRPr lang="en-US" dirty="0">
              <a:solidFill>
                <a:srgbClr val="20E1D6"/>
              </a:solidFill>
            </a:endParaRPr>
          </a:p>
          <a:p>
            <a:r>
              <a:rPr lang="en-US" sz="3200" b="1" dirty="0">
                <a:solidFill>
                  <a:srgbClr val="333333"/>
                </a:solidFill>
              </a:rPr>
              <a:t>Total Sales </a:t>
            </a:r>
            <a:r>
              <a:rPr lang="en-US" sz="3200" dirty="0">
                <a:solidFill>
                  <a:srgbClr val="333333"/>
                </a:solidFill>
              </a:rPr>
              <a:t>= SUM(</a:t>
            </a:r>
            <a:r>
              <a:rPr lang="en-US" sz="3200" dirty="0" err="1">
                <a:solidFill>
                  <a:srgbClr val="333333"/>
                </a:solidFill>
              </a:rPr>
              <a:t>FactInternetSales</a:t>
            </a:r>
            <a:r>
              <a:rPr lang="en-US" sz="3200" dirty="0">
                <a:solidFill>
                  <a:srgbClr val="333333"/>
                </a:solidFill>
              </a:rPr>
              <a:t>[</a:t>
            </a:r>
            <a:r>
              <a:rPr lang="en-US" sz="3200" dirty="0" err="1">
                <a:solidFill>
                  <a:srgbClr val="333333"/>
                </a:solidFill>
              </a:rPr>
              <a:t>SalesAmount</a:t>
            </a:r>
            <a:r>
              <a:rPr lang="en-US" sz="3200" dirty="0">
                <a:solidFill>
                  <a:srgbClr val="333333"/>
                </a:solidFill>
              </a:rPr>
              <a:t>]) </a:t>
            </a:r>
          </a:p>
          <a:p>
            <a:r>
              <a:rPr lang="en-US" sz="3200" b="1" dirty="0">
                <a:solidFill>
                  <a:srgbClr val="333333"/>
                </a:solidFill>
              </a:rPr>
              <a:t>Total Cost </a:t>
            </a:r>
            <a:r>
              <a:rPr lang="en-US" sz="3200" dirty="0">
                <a:solidFill>
                  <a:srgbClr val="333333"/>
                </a:solidFill>
              </a:rPr>
              <a:t>= SUM(</a:t>
            </a:r>
            <a:r>
              <a:rPr lang="en-US" sz="3200" dirty="0" err="1">
                <a:solidFill>
                  <a:srgbClr val="333333"/>
                </a:solidFill>
              </a:rPr>
              <a:t>FactInternetSales</a:t>
            </a:r>
            <a:r>
              <a:rPr lang="en-US" sz="3200" dirty="0">
                <a:solidFill>
                  <a:srgbClr val="333333"/>
                </a:solidFill>
              </a:rPr>
              <a:t>[</a:t>
            </a:r>
            <a:r>
              <a:rPr lang="en-US" sz="3200" dirty="0" err="1">
                <a:solidFill>
                  <a:srgbClr val="333333"/>
                </a:solidFill>
              </a:rPr>
              <a:t>TotalProductCost</a:t>
            </a:r>
            <a:r>
              <a:rPr lang="en-US" sz="3200" dirty="0">
                <a:solidFill>
                  <a:srgbClr val="333333"/>
                </a:solidFill>
              </a:rPr>
              <a:t>]) </a:t>
            </a:r>
          </a:p>
          <a:p>
            <a:r>
              <a:rPr lang="en-US" sz="3200" b="1" dirty="0">
                <a:solidFill>
                  <a:srgbClr val="333333"/>
                </a:solidFill>
              </a:rPr>
              <a:t>Total Profit </a:t>
            </a:r>
            <a:r>
              <a:rPr lang="en-US" sz="3200" dirty="0">
                <a:solidFill>
                  <a:srgbClr val="333333"/>
                </a:solidFill>
              </a:rPr>
              <a:t>= [Total Sales] – [Total Cost] </a:t>
            </a:r>
          </a:p>
          <a:p>
            <a:r>
              <a:rPr lang="en-US" sz="3200" b="1" dirty="0">
                <a:solidFill>
                  <a:srgbClr val="333333"/>
                </a:solidFill>
              </a:rPr>
              <a:t>Profit Margin % </a:t>
            </a:r>
            <a:r>
              <a:rPr lang="en-US" sz="3200" dirty="0">
                <a:solidFill>
                  <a:srgbClr val="333333"/>
                </a:solidFill>
              </a:rPr>
              <a:t>= DIVIDE([Total Profit], [Total Sales])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42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9A0D-CDA6-144D-ED39-DD8A5C7B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Sample 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54768A-982A-275A-D068-8A3CD7818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24" t="18888" r="36673" b="68649"/>
          <a:stretch>
            <a:fillRect/>
          </a:stretch>
        </p:blipFill>
        <p:spPr>
          <a:xfrm>
            <a:off x="1063256" y="3200402"/>
            <a:ext cx="10546062" cy="178095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255E63-EFF5-070A-81D8-D6C52AD5C62C}"/>
              </a:ext>
            </a:extLst>
          </p:cNvPr>
          <p:cNvSpPr/>
          <p:nvPr/>
        </p:nvSpPr>
        <p:spPr>
          <a:xfrm>
            <a:off x="3102935" y="1956447"/>
            <a:ext cx="5986130" cy="9781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20E1D6"/>
                </a:solidFill>
              </a:rPr>
              <a:t>Cards</a:t>
            </a:r>
            <a:r>
              <a:rPr lang="ar-EG" sz="3200" dirty="0">
                <a:solidFill>
                  <a:srgbClr val="20E1D6"/>
                </a:solidFill>
              </a:rPr>
              <a:t> </a:t>
            </a:r>
            <a:r>
              <a:rPr lang="en-US" sz="3200" dirty="0">
                <a:solidFill>
                  <a:srgbClr val="20E1D6"/>
                </a:solidFill>
              </a:rPr>
              <a:t>for single important value</a:t>
            </a:r>
          </a:p>
        </p:txBody>
      </p:sp>
      <p:pic>
        <p:nvPicPr>
          <p:cNvPr id="9218" name="Picture 2" descr="DEPI – Briefing Report &amp; Ranking">
            <a:extLst>
              <a:ext uri="{FF2B5EF4-FFF2-40B4-BE49-F238E27FC236}">
                <a16:creationId xmlns:a16="http://schemas.microsoft.com/office/drawing/2014/main" id="{5E8BCA27-7824-D736-D674-62FDE3C2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201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84DD-0EE0-DFD8-F244-2F9F3E69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E5BC3-DA8E-8CBF-3AC2-DFDDBCB3A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Sample visuals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DEBF333-BE4A-9B60-892F-BD2C3420D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1" t="29931" r="37109" b="41547"/>
          <a:stretch>
            <a:fillRect/>
          </a:stretch>
        </p:blipFill>
        <p:spPr>
          <a:xfrm>
            <a:off x="2352872" y="2994128"/>
            <a:ext cx="7486255" cy="295478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51E2280-D3C8-0016-6567-27C41B230E7A}"/>
              </a:ext>
            </a:extLst>
          </p:cNvPr>
          <p:cNvSpPr/>
          <p:nvPr/>
        </p:nvSpPr>
        <p:spPr>
          <a:xfrm>
            <a:off x="3102935" y="1853310"/>
            <a:ext cx="5986130" cy="9781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20E1D6"/>
                </a:solidFill>
              </a:rPr>
              <a:t>Line chart for trends over time</a:t>
            </a:r>
          </a:p>
        </p:txBody>
      </p:sp>
      <p:pic>
        <p:nvPicPr>
          <p:cNvPr id="10242" name="Picture 2" descr="DEPI – Briefing Report &amp; Ranking">
            <a:extLst>
              <a:ext uri="{FF2B5EF4-FFF2-40B4-BE49-F238E27FC236}">
                <a16:creationId xmlns:a16="http://schemas.microsoft.com/office/drawing/2014/main" id="{F3539D1B-1E07-9EE7-7A45-724728659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82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C14A-5EA4-1761-F165-E85ADDDA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AD57-A9D6-EAD1-9793-57BECA4B8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6. Sample visuals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B40519C-A93E-1632-7A92-DD74EA6A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81" t="57221" r="36684" b="16994"/>
          <a:stretch>
            <a:fillRect/>
          </a:stretch>
        </p:blipFill>
        <p:spPr>
          <a:xfrm>
            <a:off x="3732914" y="2854842"/>
            <a:ext cx="4726172" cy="33481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BED51B-F44D-72C9-6C84-0FB5C9A17F18}"/>
              </a:ext>
            </a:extLst>
          </p:cNvPr>
          <p:cNvSpPr/>
          <p:nvPr/>
        </p:nvSpPr>
        <p:spPr>
          <a:xfrm>
            <a:off x="2780414" y="1876646"/>
            <a:ext cx="5986130" cy="9781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rgbClr val="20E1D6"/>
                </a:solidFill>
              </a:rPr>
              <a:t>Donut chart for distribution</a:t>
            </a:r>
          </a:p>
        </p:txBody>
      </p:sp>
      <p:pic>
        <p:nvPicPr>
          <p:cNvPr id="11266" name="Picture 2" descr="DEPI – Briefing Report &amp; Ranking">
            <a:extLst>
              <a:ext uri="{FF2B5EF4-FFF2-40B4-BE49-F238E27FC236}">
                <a16:creationId xmlns:a16="http://schemas.microsoft.com/office/drawing/2014/main" id="{DCB3F1E0-40AB-2A68-7583-0BC7BCAE5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57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E9BE2-2C4C-6775-DFE0-06294ECF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7. Dashboards samples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EC6F26-3C1F-9107-FC6D-1598AA1A9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23" y="1825625"/>
            <a:ext cx="8190754" cy="4351338"/>
          </a:xfrm>
        </p:spPr>
      </p:pic>
      <p:pic>
        <p:nvPicPr>
          <p:cNvPr id="12290" name="Picture 2" descr="DEPI – Briefing Report &amp; Ranking">
            <a:extLst>
              <a:ext uri="{FF2B5EF4-FFF2-40B4-BE49-F238E27FC236}">
                <a16:creationId xmlns:a16="http://schemas.microsoft.com/office/drawing/2014/main" id="{DD022968-3638-5589-8CFF-D4785C908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108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338F1-4BD8-5FAF-4945-68FBE7999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BF6D2-9A0E-6298-BF4B-469F7EC3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7.Dashboards samples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ED13DF-2778-414B-2B3E-F1BDE1B3D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4" r="36825" b="15854"/>
          <a:stretch>
            <a:fillRect/>
          </a:stretch>
        </p:blipFill>
        <p:spPr>
          <a:xfrm>
            <a:off x="2276273" y="1977656"/>
            <a:ext cx="7643903" cy="3885997"/>
          </a:xfrm>
        </p:spPr>
      </p:pic>
      <p:pic>
        <p:nvPicPr>
          <p:cNvPr id="13314" name="Picture 2" descr="DEPI – Briefing Report &amp; Ranking">
            <a:extLst>
              <a:ext uri="{FF2B5EF4-FFF2-40B4-BE49-F238E27FC236}">
                <a16:creationId xmlns:a16="http://schemas.microsoft.com/office/drawing/2014/main" id="{C95AEE3D-518F-7A7C-A74D-0AC3FE236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4607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34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C06C-5B7F-4413-3C03-30E65D7F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8. 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F9AC83-BF49-4D74-E846-B18374F39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7" t="12517" r="19383" b="21405"/>
          <a:stretch>
            <a:fillRect/>
          </a:stretch>
        </p:blipFill>
        <p:spPr>
          <a:xfrm>
            <a:off x="2137144" y="2094615"/>
            <a:ext cx="7623544" cy="3857832"/>
          </a:xfrm>
        </p:spPr>
      </p:pic>
      <p:pic>
        <p:nvPicPr>
          <p:cNvPr id="14338" name="Picture 2" descr="DEPI – Briefing Report &amp; Ranking">
            <a:extLst>
              <a:ext uri="{FF2B5EF4-FFF2-40B4-BE49-F238E27FC236}">
                <a16:creationId xmlns:a16="http://schemas.microsoft.com/office/drawing/2014/main" id="{7DB96DB7-F7E3-AF03-3B8E-D41E812BC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5317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6397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E47E3-35C0-56D6-FB12-457EE88B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Key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29770-9294-5AE3-381D-999BF2BBD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3600" dirty="0">
                <a:solidFill>
                  <a:srgbClr val="333333"/>
                </a:solidFill>
              </a:rPr>
              <a:t>We have a 5.94% return rate </a:t>
            </a:r>
          </a:p>
          <a:p>
            <a:pPr algn="ctr"/>
            <a:r>
              <a:rPr lang="en-US" sz="3600" dirty="0">
                <a:solidFill>
                  <a:srgbClr val="333333"/>
                </a:solidFill>
              </a:rPr>
              <a:t>Australia has the highest total sales &amp; profit</a:t>
            </a:r>
          </a:p>
          <a:p>
            <a:pPr algn="ctr"/>
            <a:r>
              <a:rPr lang="en-US" sz="3600" dirty="0">
                <a:solidFill>
                  <a:srgbClr val="333333"/>
                </a:solidFill>
              </a:rPr>
              <a:t>Road bikes are the most sold bikes</a:t>
            </a:r>
          </a:p>
          <a:p>
            <a:pPr algn="ctr"/>
            <a:r>
              <a:rPr lang="en-US" sz="3600" dirty="0">
                <a:solidFill>
                  <a:srgbClr val="333333"/>
                </a:solidFill>
              </a:rPr>
              <a:t>Bikes are the most profitable product </a:t>
            </a:r>
          </a:p>
          <a:p>
            <a:endParaRPr lang="en-US" dirty="0"/>
          </a:p>
        </p:txBody>
      </p:sp>
      <p:pic>
        <p:nvPicPr>
          <p:cNvPr id="15362" name="Picture 2" descr="DEPI – Briefing Report &amp; Ranking">
            <a:extLst>
              <a:ext uri="{FF2B5EF4-FFF2-40B4-BE49-F238E27FC236}">
                <a16:creationId xmlns:a16="http://schemas.microsoft.com/office/drawing/2014/main" id="{9FF2EA9E-20C1-6ED0-34FC-C32CE57ED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583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8617C-2977-6202-D202-1FFA8CD7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82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000" b="1" i="1" dirty="0">
                <a:solidFill>
                  <a:srgbClr val="20E1D6"/>
                </a:solidFill>
              </a:rPr>
              <a:t>Thank you !</a:t>
            </a:r>
          </a:p>
        </p:txBody>
      </p:sp>
      <p:pic>
        <p:nvPicPr>
          <p:cNvPr id="17410" name="Picture 2" descr="DEPI – Briefing Report &amp; Ranking">
            <a:extLst>
              <a:ext uri="{FF2B5EF4-FFF2-40B4-BE49-F238E27FC236}">
                <a16:creationId xmlns:a16="http://schemas.microsoft.com/office/drawing/2014/main" id="{D05B9118-C587-51E1-AEB4-322AB261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0" y="0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dventure Works: Analysis Techniques and RFM Model | by Xutiantony | Medium">
            <a:extLst>
              <a:ext uri="{FF2B5EF4-FFF2-40B4-BE49-F238E27FC236}">
                <a16:creationId xmlns:a16="http://schemas.microsoft.com/office/drawing/2014/main" id="{AE75BB29-9D5C-44A9-69BA-23B122A2E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4370092"/>
            <a:ext cx="4775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bout US – Multi technology System">
            <a:extLst>
              <a:ext uri="{FF2B5EF4-FFF2-40B4-BE49-F238E27FC236}">
                <a16:creationId xmlns:a16="http://schemas.microsoft.com/office/drawing/2014/main" id="{82A1732C-2A34-A93B-3D70-1812936D1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375047" cy="223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537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275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Bahnschrift</vt:lpstr>
      <vt:lpstr>Calibri</vt:lpstr>
      <vt:lpstr>Calibri Light</vt:lpstr>
      <vt:lpstr>Wingdings</vt:lpstr>
      <vt:lpstr>Office Theme</vt:lpstr>
      <vt:lpstr>Bike sales analysis</vt:lpstr>
      <vt:lpstr>Our team members</vt:lpstr>
      <vt:lpstr>Agenda</vt:lpstr>
      <vt:lpstr>1. Project objectives</vt:lpstr>
      <vt:lpstr>2. Dataset overview</vt:lpstr>
      <vt:lpstr>3. Data cleaning using power query in PowerBI</vt:lpstr>
      <vt:lpstr>Some of the cleaning</vt:lpstr>
      <vt:lpstr>4. Data modeling</vt:lpstr>
      <vt:lpstr>5. DAX</vt:lpstr>
      <vt:lpstr>6. Sample visuals</vt:lpstr>
      <vt:lpstr>6. Sample visuals</vt:lpstr>
      <vt:lpstr>6. Sample visuals</vt:lpstr>
      <vt:lpstr>7. Dashboards samples</vt:lpstr>
      <vt:lpstr>7.Dashboards samples</vt:lpstr>
      <vt:lpstr>8. Tableau dashboard</vt:lpstr>
      <vt:lpstr>9. Key results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yomna said</dc:creator>
  <cp:lastModifiedBy>yomna said</cp:lastModifiedBy>
  <cp:revision>4</cp:revision>
  <dcterms:created xsi:type="dcterms:W3CDTF">2025-11-30T18:15:36Z</dcterms:created>
  <dcterms:modified xsi:type="dcterms:W3CDTF">2025-11-30T21:36:50Z</dcterms:modified>
</cp:coreProperties>
</file>