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4" r:id="rId12"/>
    <p:sldId id="275" r:id="rId13"/>
    <p:sldId id="266" r:id="rId14"/>
    <p:sldId id="276" r:id="rId15"/>
    <p:sldId id="277" r:id="rId16"/>
    <p:sldId id="267" r:id="rId17"/>
    <p:sldId id="269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0E1D6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428" autoAdjust="0"/>
    <p:restoredTop sz="94660"/>
  </p:normalViewPr>
  <p:slideViewPr>
    <p:cSldViewPr snapToGrid="0">
      <p:cViewPr>
        <p:scale>
          <a:sx n="72" d="100"/>
          <a:sy n="72" d="100"/>
        </p:scale>
        <p:origin x="854" y="2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9B0B4-F85B-642E-A095-5516E7A79F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477991D-8104-051E-1F5D-D5D9A97507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4649F4-B071-2A9B-7DA1-DB5C6FD700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0FFF09-95A3-457C-A437-1205ADF85C2D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C91567-1A7B-0332-6AF2-E453A411A0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933789-4ED1-1905-300E-9A15443E2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3DFFC6-F34F-4CFA-B185-252FF37B2F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066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622CC-5ADB-17AA-8BC2-3E0131477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A54D6-EA20-409F-E8A5-9A31208A25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D03776-BCCE-50B9-769F-718C75D83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0FFF09-95A3-457C-A437-1205ADF85C2D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5271AB-85ED-D43D-4AEA-5273B0305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3B2E02-D1AA-8C32-BA94-4A0CE3499F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3DFFC6-F34F-4CFA-B185-252FF37B2F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53219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874C25-CEA8-5683-F6D4-4C20C65B4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16520F-8E2B-B381-A17E-D5BE9E0BBE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12DC82-DFD6-F7EC-1AEF-1DCCF0B0D5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0FFF09-95A3-457C-A437-1205ADF85C2D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7ADCF7-C1D9-8DEB-050C-4E3D1E512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9A0F00-D0BD-56AF-9784-E4649A4F3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3DFFC6-F34F-4CFA-B185-252FF37B2F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46779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8B4BA8-3375-E988-549B-7CA6E84F5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6105BC-0784-5F4B-9B7F-06BAE239F7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825DAF-A853-2456-9B2D-9611B0B43E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D91E6E-0721-9243-3A6D-3922E4A9AF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0FFF09-95A3-457C-A437-1205ADF85C2D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735318-03E3-9B5C-2F8C-8B903398E3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B031F4-75D1-2964-17C8-70EC3351B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3DFFC6-F34F-4CFA-B185-252FF37B2F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4379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9A980D-ABBC-0037-9693-CE11E26B8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F27830-0395-496A-F2C7-A0314B7DBD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E29DEB-64A3-205A-3B6C-537807ACB5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FFFE9A8-948F-8A9C-0449-B35BFF6896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74B80F9-5173-E747-6954-435C3F6774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4279BA-1668-0C86-21F8-2C619B481F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0FFF09-95A3-457C-A437-1205ADF85C2D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D8697DF-4B69-8DAC-A305-DCB8767660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F0E8260-8176-F2BA-61F7-3396C2A39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3DFFC6-F34F-4CFA-B185-252FF37B2F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9464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52D433-9A7C-7E96-BD14-B14CBA6D7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FF21BA-CF86-4627-7831-1E65370688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0FFF09-95A3-457C-A437-1205ADF85C2D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39B73E-4BC9-0E6B-59DD-599DB5C98A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755FF9-031F-B937-74C3-22A1D1A305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3DFFC6-F34F-4CFA-B185-252FF37B2F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3542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1B9548-0AFC-E586-37A7-D4233B4871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0FFF09-95A3-457C-A437-1205ADF85C2D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038143-A5CC-8571-2C6B-FF53B53FB4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9E2FDD-E269-34FC-140F-7B5EA2ADD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3DFFC6-F34F-4CFA-B185-252FF37B2F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2745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58161-42B7-D5D0-7DEC-2503230C66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14830E-14E1-E624-47F1-8F2115226F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62BFE4-D58A-DA02-0EC1-A836CDB289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F269DA-B52F-6BCD-6A73-28CF539AA8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0FFF09-95A3-457C-A437-1205ADF85C2D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B1C0E2-B3DA-C0BA-054E-AC742D80F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D09B4E-1EE7-E168-0492-57F3A7779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3DFFC6-F34F-4CFA-B185-252FF37B2F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8846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EC527-C7AF-7C77-B503-1337FB511E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1F8C78-9039-AB8E-EFBF-3BB0D3BE66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AF0D53-A622-138B-A860-BE7B4D6B37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A2F6B8-D352-7BAB-1D3C-E0E5810020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0FFF09-95A3-457C-A437-1205ADF85C2D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FD8609-7962-AB02-E978-3A9945FC7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8A3E03-1686-3687-DC14-9D84DECD0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3DFFC6-F34F-4CFA-B185-252FF37B2F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83749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A09ECE-EDB5-68C3-FFCC-8B5F8DC9CE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BC1869-3C13-364F-9D94-5977EF43D7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E1B98B-F646-6238-EE33-E492C2E493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0FFF09-95A3-457C-A437-1205ADF85C2D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68488F-AC72-F823-FCEA-9A32C24D8D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3E220D-AD82-FEB3-4879-C70A3F8586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3DFFC6-F34F-4CFA-B185-252FF37B2F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9701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10294DC-E742-6729-6223-4E7E41013CA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8D283A-2D51-4FFD-5ED4-0009770A98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F41E5F-FD91-56C1-6462-438793E7E4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0FFF09-95A3-457C-A437-1205ADF85C2D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F054BD-C0BC-57BF-863F-E1482A9C8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C0EAA5-B014-71F9-E716-3AC459A81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3DFFC6-F34F-4CFA-B185-252FF37B2F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3137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FB535E-BCF2-C2D1-4F59-D4C3276591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826B6E-A672-2E46-39C1-EBAC8953F8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0E481F-A5D7-DE4E-E0D7-D0B9F3705C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0FFF09-95A3-457C-A437-1205ADF85C2D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C64707-52E8-FD93-8372-141BA79133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5A5B2D-61B6-1A82-E040-A80C11E9A1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3DFFC6-F34F-4CFA-B185-252FF37B2F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4591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3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36C24-9BC5-F0B9-0C76-49D4D78A8D2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lang="en-US" b="1" dirty="0">
                <a:solidFill>
                  <a:srgbClr val="20E1D6"/>
                </a:solidFill>
                <a:latin typeface="Bahnschrift" panose="020B0502040204020203" pitchFamily="34" charset="0"/>
              </a:rPr>
              <a:t>Bike sales analysis</a:t>
            </a:r>
          </a:p>
        </p:txBody>
      </p:sp>
      <p:pic>
        <p:nvPicPr>
          <p:cNvPr id="2050" name="Picture 2" descr="Adventure Works: Analysis Techniques and RFM Model | by Xutiantony | Medium">
            <a:extLst>
              <a:ext uri="{FF2B5EF4-FFF2-40B4-BE49-F238E27FC236}">
                <a16:creationId xmlns:a16="http://schemas.microsoft.com/office/drawing/2014/main" id="{8FDCD402-28C9-F982-DAF8-9FD2718086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8400" y="4230503"/>
            <a:ext cx="4775200" cy="2387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About US – Multi technology System">
            <a:extLst>
              <a:ext uri="{FF2B5EF4-FFF2-40B4-BE49-F238E27FC236}">
                <a16:creationId xmlns:a16="http://schemas.microsoft.com/office/drawing/2014/main" id="{5CFD1DE0-1E51-A2C4-C39C-8DEAAEDA66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3375047" cy="22328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DEPI – Briefing Report &amp; Ranking">
            <a:extLst>
              <a:ext uri="{FF2B5EF4-FFF2-40B4-BE49-F238E27FC236}">
                <a16:creationId xmlns:a16="http://schemas.microsoft.com/office/drawing/2014/main" id="{288490CB-5237-F84D-9A37-39B311036A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41442" y="0"/>
            <a:ext cx="2250558" cy="2250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046705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39EBA-7A7C-CCE6-EECE-E6A96130E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Our team members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D6150-0287-F957-DE44-8C64B5A3D7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en-US" dirty="0">
                <a:solidFill>
                  <a:srgbClr val="333333"/>
                </a:solidFill>
              </a:rPr>
              <a:t>Yara Said (team leader)</a:t>
            </a:r>
          </a:p>
          <a:p>
            <a:pPr algn="ctr"/>
            <a:r>
              <a:rPr lang="en-US" dirty="0">
                <a:solidFill>
                  <a:srgbClr val="333333"/>
                </a:solidFill>
              </a:rPr>
              <a:t>Mahmoud Shaker</a:t>
            </a:r>
          </a:p>
          <a:p>
            <a:pPr algn="ctr"/>
            <a:r>
              <a:rPr lang="en-US" dirty="0">
                <a:solidFill>
                  <a:srgbClr val="333333"/>
                </a:solidFill>
              </a:rPr>
              <a:t>Kholoud Mostafa</a:t>
            </a:r>
          </a:p>
          <a:p>
            <a:pPr algn="ctr"/>
            <a:r>
              <a:rPr lang="en-US" dirty="0">
                <a:solidFill>
                  <a:srgbClr val="333333"/>
                </a:solidFill>
              </a:rPr>
              <a:t>Abdelhady Hussein </a:t>
            </a:r>
          </a:p>
          <a:p>
            <a:pPr algn="ctr"/>
            <a:r>
              <a:rPr lang="en-US" dirty="0">
                <a:solidFill>
                  <a:srgbClr val="333333"/>
                </a:solidFill>
              </a:rPr>
              <a:t>Amina </a:t>
            </a:r>
            <a:r>
              <a:rPr lang="en-US" dirty="0" err="1">
                <a:solidFill>
                  <a:srgbClr val="333333"/>
                </a:solidFill>
              </a:rPr>
              <a:t>Elshabandy</a:t>
            </a:r>
            <a:endParaRPr lang="en-US" dirty="0">
              <a:solidFill>
                <a:srgbClr val="333333"/>
              </a:solidFill>
            </a:endParaRPr>
          </a:p>
          <a:p>
            <a:pPr algn="ctr"/>
            <a:r>
              <a:rPr lang="en-US" dirty="0">
                <a:solidFill>
                  <a:srgbClr val="333333"/>
                </a:solidFill>
              </a:rPr>
              <a:t>Nour Gad</a:t>
            </a:r>
          </a:p>
          <a:p>
            <a:endParaRPr lang="en-US" dirty="0"/>
          </a:p>
        </p:txBody>
      </p:sp>
      <p:pic>
        <p:nvPicPr>
          <p:cNvPr id="3074" name="Picture 2" descr="DEPI – Briefing Report &amp; Ranking">
            <a:extLst>
              <a:ext uri="{FF2B5EF4-FFF2-40B4-BE49-F238E27FC236}">
                <a16:creationId xmlns:a16="http://schemas.microsoft.com/office/drawing/2014/main" id="{8C6115AC-CDB7-E873-DEE1-E0D5FA80B3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7000" y="0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Adventure Works: Analysis Techniques and RFM Model | by Xutiantony | Medium">
            <a:extLst>
              <a:ext uri="{FF2B5EF4-FFF2-40B4-BE49-F238E27FC236}">
                <a16:creationId xmlns:a16="http://schemas.microsoft.com/office/drawing/2014/main" id="{34B01841-9D9B-84B7-5E2C-A081989C37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470400"/>
            <a:ext cx="4775200" cy="2387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5829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154A21-B6F8-BBA7-9D78-540857188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20E1D6"/>
                </a:solidFill>
              </a:rPr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41554C-AC5A-360D-05D6-D45AFA01FE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514350" indent="-514350" algn="l">
              <a:buFont typeface="+mj-lt"/>
              <a:buAutoNum type="arabicPeriod"/>
            </a:pPr>
            <a:r>
              <a:rPr lang="en-US" dirty="0">
                <a:solidFill>
                  <a:srgbClr val="333333"/>
                </a:solidFill>
              </a:rPr>
              <a:t>Objectives</a:t>
            </a:r>
          </a:p>
          <a:p>
            <a:pPr marL="514350" indent="-514350" algn="l">
              <a:buFont typeface="+mj-lt"/>
              <a:buAutoNum type="arabicPeriod"/>
            </a:pPr>
            <a:r>
              <a:rPr lang="en-US" dirty="0" err="1">
                <a:solidFill>
                  <a:srgbClr val="333333"/>
                </a:solidFill>
              </a:rPr>
              <a:t>DataSet</a:t>
            </a:r>
            <a:r>
              <a:rPr lang="en-US" dirty="0">
                <a:solidFill>
                  <a:srgbClr val="333333"/>
                </a:solidFill>
              </a:rPr>
              <a:t> Overview</a:t>
            </a:r>
          </a:p>
          <a:p>
            <a:pPr marL="514350" indent="-514350" algn="l">
              <a:buFont typeface="+mj-lt"/>
              <a:buAutoNum type="arabicPeriod"/>
            </a:pPr>
            <a:r>
              <a:rPr lang="en-US" dirty="0">
                <a:solidFill>
                  <a:srgbClr val="333333"/>
                </a:solidFill>
              </a:rPr>
              <a:t>Data cleaning</a:t>
            </a:r>
          </a:p>
          <a:p>
            <a:pPr marL="514350" indent="-514350" algn="l">
              <a:buFont typeface="+mj-lt"/>
              <a:buAutoNum type="arabicPeriod"/>
            </a:pPr>
            <a:r>
              <a:rPr lang="en-US" dirty="0">
                <a:solidFill>
                  <a:srgbClr val="333333"/>
                </a:solidFill>
              </a:rPr>
              <a:t>Data modeling</a:t>
            </a:r>
          </a:p>
          <a:p>
            <a:pPr marL="514350" indent="-514350" algn="l">
              <a:buFont typeface="+mj-lt"/>
              <a:buAutoNum type="arabicPeriod"/>
            </a:pPr>
            <a:r>
              <a:rPr lang="en-US" dirty="0">
                <a:solidFill>
                  <a:srgbClr val="333333"/>
                </a:solidFill>
              </a:rPr>
              <a:t>DAX</a:t>
            </a:r>
          </a:p>
          <a:p>
            <a:pPr marL="514350" indent="-514350" algn="l">
              <a:buFont typeface="+mj-lt"/>
              <a:buAutoNum type="arabicPeriod"/>
            </a:pPr>
            <a:r>
              <a:rPr lang="en-US" dirty="0">
                <a:solidFill>
                  <a:srgbClr val="333333"/>
                </a:solidFill>
              </a:rPr>
              <a:t>Sample visuals</a:t>
            </a:r>
          </a:p>
          <a:p>
            <a:pPr marL="514350" indent="-514350" algn="l">
              <a:buFont typeface="+mj-lt"/>
              <a:buAutoNum type="arabicPeriod"/>
            </a:pPr>
            <a:r>
              <a:rPr lang="en-US" dirty="0">
                <a:solidFill>
                  <a:srgbClr val="333333"/>
                </a:solidFill>
              </a:rPr>
              <a:t>Dashboard samples</a:t>
            </a:r>
          </a:p>
          <a:p>
            <a:pPr marL="514350" indent="-514350" algn="l">
              <a:buFont typeface="+mj-lt"/>
              <a:buAutoNum type="arabicPeriod"/>
            </a:pPr>
            <a:r>
              <a:rPr lang="en-US" dirty="0">
                <a:solidFill>
                  <a:srgbClr val="333333"/>
                </a:solidFill>
              </a:rPr>
              <a:t>Tableau dashboard</a:t>
            </a:r>
          </a:p>
          <a:p>
            <a:pPr marL="514350" indent="-514350" algn="l">
              <a:buFont typeface="+mj-lt"/>
              <a:buAutoNum type="arabicPeriod"/>
            </a:pPr>
            <a:r>
              <a:rPr lang="en-US" dirty="0">
                <a:solidFill>
                  <a:srgbClr val="333333"/>
                </a:solidFill>
              </a:rPr>
              <a:t>Key findings</a:t>
            </a:r>
            <a:br>
              <a:rPr lang="en-US" dirty="0"/>
            </a:br>
            <a:endParaRPr lang="en-US" dirty="0"/>
          </a:p>
        </p:txBody>
      </p:sp>
      <p:pic>
        <p:nvPicPr>
          <p:cNvPr id="4098" name="Picture 2" descr="DEPI – Briefing Report &amp; Ranking">
            <a:extLst>
              <a:ext uri="{FF2B5EF4-FFF2-40B4-BE49-F238E27FC236}">
                <a16:creationId xmlns:a16="http://schemas.microsoft.com/office/drawing/2014/main" id="{EDD096FA-759E-77C0-E7A7-D25BB07CD3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7000" y="0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28691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A4DD6-67D9-F6FC-7FB9-404F6AB47E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1. Project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DECA23-956F-DFDA-7944-8B3564D1D7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333333"/>
                </a:solidFill>
                <a:latin typeface="+mj-lt"/>
              </a:rPr>
              <a:t>This project aims to perform an in-depth analysis of bike sales data obtained from the </a:t>
            </a:r>
            <a:r>
              <a:rPr lang="en-US" b="1" dirty="0" err="1">
                <a:solidFill>
                  <a:srgbClr val="333333"/>
                </a:solidFill>
                <a:latin typeface="+mj-lt"/>
              </a:rPr>
              <a:t>AdventureWorks</a:t>
            </a:r>
            <a:r>
              <a:rPr lang="en-US" b="1" dirty="0">
                <a:solidFill>
                  <a:srgbClr val="333333"/>
                </a:solidFill>
                <a:latin typeface="+mj-lt"/>
              </a:rPr>
              <a:t> dataset, focusing on sales, customers, products, and regional performance. The goal is to develop actionable insights and data-driven visualizations to make higher profit ,to analyze sales performance across products and territories and to evaluate customer purchasing behavior and segment key demographics. </a:t>
            </a:r>
            <a:endParaRPr lang="en-US" dirty="0">
              <a:solidFill>
                <a:srgbClr val="333333"/>
              </a:solidFill>
              <a:latin typeface="+mj-lt"/>
            </a:endParaRPr>
          </a:p>
          <a:p>
            <a:endParaRPr lang="en-US" dirty="0"/>
          </a:p>
        </p:txBody>
      </p:sp>
      <p:pic>
        <p:nvPicPr>
          <p:cNvPr id="5122" name="Picture 2" descr="DEPI – Briefing Report &amp; Ranking">
            <a:extLst>
              <a:ext uri="{FF2B5EF4-FFF2-40B4-BE49-F238E27FC236}">
                <a16:creationId xmlns:a16="http://schemas.microsoft.com/office/drawing/2014/main" id="{C008A1C4-64AC-50B4-FFDA-D947F1A451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7000" y="0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613758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22E28-8F12-8AB8-C298-B5E8579D7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2. Dataset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0A543-D7B1-467F-93BB-5B4F6199D9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en-US" dirty="0">
                <a:solidFill>
                  <a:srgbClr val="333333"/>
                </a:solidFill>
              </a:rPr>
              <a:t>Dataset from </a:t>
            </a:r>
            <a:r>
              <a:rPr lang="en-US" dirty="0" err="1">
                <a:solidFill>
                  <a:srgbClr val="333333"/>
                </a:solidFill>
              </a:rPr>
              <a:t>Adventureworks</a:t>
            </a:r>
            <a:r>
              <a:rPr lang="en-US" dirty="0">
                <a:solidFill>
                  <a:srgbClr val="333333"/>
                </a:solidFill>
              </a:rPr>
              <a:t>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>
                <a:solidFill>
                  <a:srgbClr val="333333"/>
                </a:solidFill>
              </a:rPr>
              <a:t>6 (csv ) files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>
                <a:solidFill>
                  <a:srgbClr val="333333"/>
                </a:solidFill>
              </a:rPr>
              <a:t>Time range from to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>
                <a:solidFill>
                  <a:srgbClr val="333333"/>
                </a:solidFill>
              </a:rPr>
              <a:t>The data covers x countries 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1026" name="Picture 2" descr="Adventure Works: Analysis Techniques and RFM Model | by Xutiantony | Medium">
            <a:extLst>
              <a:ext uri="{FF2B5EF4-FFF2-40B4-BE49-F238E27FC236}">
                <a16:creationId xmlns:a16="http://schemas.microsoft.com/office/drawing/2014/main" id="{6DCD54BB-930D-6E4A-54FB-8098912142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4613" y="3002516"/>
            <a:ext cx="6618768" cy="3309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DEPI – Briefing Report &amp; Ranking">
            <a:extLst>
              <a:ext uri="{FF2B5EF4-FFF2-40B4-BE49-F238E27FC236}">
                <a16:creationId xmlns:a16="http://schemas.microsoft.com/office/drawing/2014/main" id="{BD8ED369-BA29-ECBE-FB3F-E04A3D11FD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7000" y="0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935371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BE1A2-6CF8-8752-319F-C3A2DE7D2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3. Data cleaning using power query in </a:t>
            </a:r>
            <a:r>
              <a:rPr lang="en-US" b="1" dirty="0" err="1"/>
              <a:t>PowerBI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52585-175D-C42D-3F67-AC68F3F5F5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en-US" dirty="0">
                <a:solidFill>
                  <a:srgbClr val="333333"/>
                </a:solidFill>
              </a:rPr>
              <a:t>Loaded data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>
                <a:solidFill>
                  <a:srgbClr val="333333"/>
                </a:solidFill>
              </a:rPr>
              <a:t>Structural Optimization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>
                <a:solidFill>
                  <a:srgbClr val="333333"/>
                </a:solidFill>
              </a:rPr>
              <a:t>Data Quality Enhancement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>
                <a:solidFill>
                  <a:srgbClr val="333333"/>
                </a:solidFill>
              </a:rPr>
              <a:t>Text Data Processing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>
                <a:solidFill>
                  <a:srgbClr val="333333"/>
                </a:solidFill>
              </a:rPr>
              <a:t>Business Logic &amp; Calculations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>
                <a:solidFill>
                  <a:srgbClr val="333333"/>
                </a:solidFill>
              </a:rPr>
              <a:t>Data Integration </a:t>
            </a:r>
          </a:p>
        </p:txBody>
      </p:sp>
      <p:pic>
        <p:nvPicPr>
          <p:cNvPr id="6146" name="Picture 2" descr="DEPI – Briefing Report &amp; Ranking">
            <a:extLst>
              <a:ext uri="{FF2B5EF4-FFF2-40B4-BE49-F238E27FC236}">
                <a16:creationId xmlns:a16="http://schemas.microsoft.com/office/drawing/2014/main" id="{CD4F0ADA-7D41-D62A-E78F-D6EF58CFE8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7000" y="4953000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239598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007EF0-B3BF-A1D5-D9B8-5E7435D5D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solidFill>
                  <a:srgbClr val="20E1D6"/>
                </a:solidFill>
              </a:rPr>
              <a:t>Some of the cleaning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687FB1E3-C9E9-099D-8AF9-E6EDE849391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560" t="12177"/>
          <a:stretch>
            <a:fillRect/>
          </a:stretch>
        </p:blipFill>
        <p:spPr>
          <a:xfrm>
            <a:off x="1573441" y="2074589"/>
            <a:ext cx="3179312" cy="3876631"/>
          </a:xfr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78924E9-9A7B-BEAF-22F4-A5BE5A91F3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811" t="13704"/>
          <a:stretch>
            <a:fillRect/>
          </a:stretch>
        </p:blipFill>
        <p:spPr>
          <a:xfrm>
            <a:off x="7242897" y="2074589"/>
            <a:ext cx="3179312" cy="3926800"/>
          </a:xfrm>
          <a:prstGeom prst="rect">
            <a:avLst/>
          </a:prstGeom>
        </p:spPr>
      </p:pic>
      <p:pic>
        <p:nvPicPr>
          <p:cNvPr id="7170" name="Picture 2" descr="DEPI – Briefing Report &amp; Ranking">
            <a:extLst>
              <a:ext uri="{FF2B5EF4-FFF2-40B4-BE49-F238E27FC236}">
                <a16:creationId xmlns:a16="http://schemas.microsoft.com/office/drawing/2014/main" id="{3032132A-BB5C-C2B7-C5A7-CC88F31D61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7000" y="0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Adventure Works: Analysis Techniques and RFM Model | by Xutiantony | Medium">
            <a:extLst>
              <a:ext uri="{FF2B5EF4-FFF2-40B4-BE49-F238E27FC236}">
                <a16:creationId xmlns:a16="http://schemas.microsoft.com/office/drawing/2014/main" id="{21F3A758-5666-002E-AD59-BFB62D2B6D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6382" y="4331070"/>
            <a:ext cx="4775200" cy="2387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88065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05C13-6F8A-7A64-F05A-3527C3B23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4. Data modeling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CC00F45-C314-7330-872B-5B440FB2A7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187" r="933" b="2246"/>
          <a:stretch>
            <a:fillRect/>
          </a:stretch>
        </p:blipFill>
        <p:spPr>
          <a:xfrm>
            <a:off x="1863738" y="2084201"/>
            <a:ext cx="8464524" cy="3795603"/>
          </a:xfrm>
        </p:spPr>
      </p:pic>
      <p:pic>
        <p:nvPicPr>
          <p:cNvPr id="8194" name="Picture 2" descr="DEPI – Briefing Report &amp; Ranking">
            <a:extLst>
              <a:ext uri="{FF2B5EF4-FFF2-40B4-BE49-F238E27FC236}">
                <a16:creationId xmlns:a16="http://schemas.microsoft.com/office/drawing/2014/main" id="{B9C53736-EE67-B0EF-80F5-BD0247C94D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7000" y="3711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97223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42054-2D35-982D-AC8E-E3822A65E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5. DAX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F37995-DA79-01D3-C96B-8725D854A6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20E1D6"/>
                </a:solidFill>
              </a:rPr>
              <a:t>Examples: </a:t>
            </a:r>
            <a:endParaRPr lang="en-US" dirty="0">
              <a:solidFill>
                <a:srgbClr val="20E1D6"/>
              </a:solidFill>
            </a:endParaRPr>
          </a:p>
          <a:p>
            <a:r>
              <a:rPr lang="en-US" sz="3200" b="1" dirty="0">
                <a:solidFill>
                  <a:srgbClr val="333333"/>
                </a:solidFill>
              </a:rPr>
              <a:t>Total Sales </a:t>
            </a:r>
            <a:r>
              <a:rPr lang="en-US" sz="3200" dirty="0">
                <a:solidFill>
                  <a:srgbClr val="333333"/>
                </a:solidFill>
              </a:rPr>
              <a:t>= SUM(</a:t>
            </a:r>
            <a:r>
              <a:rPr lang="en-US" sz="3200" dirty="0" err="1">
                <a:solidFill>
                  <a:srgbClr val="333333"/>
                </a:solidFill>
              </a:rPr>
              <a:t>FactInternetSales</a:t>
            </a:r>
            <a:r>
              <a:rPr lang="en-US" sz="3200" dirty="0">
                <a:solidFill>
                  <a:srgbClr val="333333"/>
                </a:solidFill>
              </a:rPr>
              <a:t>[</a:t>
            </a:r>
            <a:r>
              <a:rPr lang="en-US" sz="3200" dirty="0" err="1">
                <a:solidFill>
                  <a:srgbClr val="333333"/>
                </a:solidFill>
              </a:rPr>
              <a:t>SalesAmount</a:t>
            </a:r>
            <a:r>
              <a:rPr lang="en-US" sz="3200" dirty="0">
                <a:solidFill>
                  <a:srgbClr val="333333"/>
                </a:solidFill>
              </a:rPr>
              <a:t>]) </a:t>
            </a:r>
          </a:p>
          <a:p>
            <a:r>
              <a:rPr lang="en-US" sz="3200" b="1" dirty="0">
                <a:solidFill>
                  <a:srgbClr val="333333"/>
                </a:solidFill>
              </a:rPr>
              <a:t>Total Cost </a:t>
            </a:r>
            <a:r>
              <a:rPr lang="en-US" sz="3200" dirty="0">
                <a:solidFill>
                  <a:srgbClr val="333333"/>
                </a:solidFill>
              </a:rPr>
              <a:t>= SUM(</a:t>
            </a:r>
            <a:r>
              <a:rPr lang="en-US" sz="3200" dirty="0" err="1">
                <a:solidFill>
                  <a:srgbClr val="333333"/>
                </a:solidFill>
              </a:rPr>
              <a:t>FactInternetSales</a:t>
            </a:r>
            <a:r>
              <a:rPr lang="en-US" sz="3200" dirty="0">
                <a:solidFill>
                  <a:srgbClr val="333333"/>
                </a:solidFill>
              </a:rPr>
              <a:t>[</a:t>
            </a:r>
            <a:r>
              <a:rPr lang="en-US" sz="3200" dirty="0" err="1">
                <a:solidFill>
                  <a:srgbClr val="333333"/>
                </a:solidFill>
              </a:rPr>
              <a:t>TotalProductCost</a:t>
            </a:r>
            <a:r>
              <a:rPr lang="en-US" sz="3200" dirty="0">
                <a:solidFill>
                  <a:srgbClr val="333333"/>
                </a:solidFill>
              </a:rPr>
              <a:t>]) </a:t>
            </a:r>
          </a:p>
          <a:p>
            <a:r>
              <a:rPr lang="en-US" sz="3200" b="1" dirty="0">
                <a:solidFill>
                  <a:srgbClr val="333333"/>
                </a:solidFill>
              </a:rPr>
              <a:t>Total Profit </a:t>
            </a:r>
            <a:r>
              <a:rPr lang="en-US" sz="3200" dirty="0">
                <a:solidFill>
                  <a:srgbClr val="333333"/>
                </a:solidFill>
              </a:rPr>
              <a:t>= [Total Sales] – [Total Cost] </a:t>
            </a:r>
          </a:p>
          <a:p>
            <a:r>
              <a:rPr lang="en-US" sz="3200" b="1" dirty="0">
                <a:solidFill>
                  <a:srgbClr val="333333"/>
                </a:solidFill>
              </a:rPr>
              <a:t>Profit Margin % </a:t>
            </a:r>
            <a:r>
              <a:rPr lang="en-US" sz="3200" dirty="0">
                <a:solidFill>
                  <a:srgbClr val="333333"/>
                </a:solidFill>
              </a:rPr>
              <a:t>= DIVIDE([Total Profit], [Total Sales])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4210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49A0D-CDA6-144D-ED39-DD8A5C7B2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6. Sample visuals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C54768A-982A-275A-D068-8A3CD781894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124" t="18888" r="36673" b="68649"/>
          <a:stretch>
            <a:fillRect/>
          </a:stretch>
        </p:blipFill>
        <p:spPr>
          <a:xfrm>
            <a:off x="1063256" y="3200402"/>
            <a:ext cx="10546062" cy="1780953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C255E63-EFF5-070A-81D8-D6C52AD5C62C}"/>
              </a:ext>
            </a:extLst>
          </p:cNvPr>
          <p:cNvSpPr/>
          <p:nvPr/>
        </p:nvSpPr>
        <p:spPr>
          <a:xfrm>
            <a:off x="3102935" y="1956447"/>
            <a:ext cx="5986130" cy="978196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rgbClr val="20E1D6"/>
                </a:solidFill>
              </a:rPr>
              <a:t>Cards</a:t>
            </a:r>
            <a:r>
              <a:rPr lang="ar-EG" sz="3200" dirty="0">
                <a:solidFill>
                  <a:srgbClr val="20E1D6"/>
                </a:solidFill>
              </a:rPr>
              <a:t> </a:t>
            </a:r>
            <a:r>
              <a:rPr lang="en-US" sz="3200" dirty="0">
                <a:solidFill>
                  <a:srgbClr val="20E1D6"/>
                </a:solidFill>
              </a:rPr>
              <a:t>for single important value</a:t>
            </a:r>
          </a:p>
        </p:txBody>
      </p:sp>
      <p:pic>
        <p:nvPicPr>
          <p:cNvPr id="9218" name="Picture 2" descr="DEPI – Briefing Report &amp; Ranking">
            <a:extLst>
              <a:ext uri="{FF2B5EF4-FFF2-40B4-BE49-F238E27FC236}">
                <a16:creationId xmlns:a16="http://schemas.microsoft.com/office/drawing/2014/main" id="{5E8BCA27-7824-D736-D674-62FDE3C2E2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7000" y="0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162018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484DD-0EE0-DFD8-F244-2F9F3E69A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E5BC3-DA8E-8CBF-3AC2-DFDDBCB3AC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6. Sample visuals</a:t>
            </a: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DDEBF333-BE4A-9B60-892F-BD2C3420D7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011" t="29931" r="37109" b="41547"/>
          <a:stretch>
            <a:fillRect/>
          </a:stretch>
        </p:blipFill>
        <p:spPr>
          <a:xfrm>
            <a:off x="2352872" y="2994128"/>
            <a:ext cx="7486255" cy="295478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51E2280-D3C8-0016-6567-27C41B230E7A}"/>
              </a:ext>
            </a:extLst>
          </p:cNvPr>
          <p:cNvSpPr/>
          <p:nvPr/>
        </p:nvSpPr>
        <p:spPr>
          <a:xfrm>
            <a:off x="3102935" y="1853310"/>
            <a:ext cx="5986130" cy="978196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rgbClr val="20E1D6"/>
                </a:solidFill>
              </a:rPr>
              <a:t>Line chart for trends over time</a:t>
            </a:r>
          </a:p>
        </p:txBody>
      </p:sp>
      <p:pic>
        <p:nvPicPr>
          <p:cNvPr id="10242" name="Picture 2" descr="DEPI – Briefing Report &amp; Ranking">
            <a:extLst>
              <a:ext uri="{FF2B5EF4-FFF2-40B4-BE49-F238E27FC236}">
                <a16:creationId xmlns:a16="http://schemas.microsoft.com/office/drawing/2014/main" id="{F3539D1B-1E07-9EE7-7A45-7247286593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7000" y="0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928204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2C14A-5EA4-1761-F165-E85ADDDA5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4AD57-A9D6-EAD1-9793-57BECA4B8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6. Sample visuals</a:t>
            </a: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6B40519C-A93E-1632-7A92-DD74EA6A38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981" t="57221" r="36684" b="16994"/>
          <a:stretch>
            <a:fillRect/>
          </a:stretch>
        </p:blipFill>
        <p:spPr>
          <a:xfrm>
            <a:off x="3732914" y="2854842"/>
            <a:ext cx="4726172" cy="334816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4BED51B-F44D-72C9-6C84-0FB5C9A17F18}"/>
              </a:ext>
            </a:extLst>
          </p:cNvPr>
          <p:cNvSpPr/>
          <p:nvPr/>
        </p:nvSpPr>
        <p:spPr>
          <a:xfrm>
            <a:off x="2780414" y="1876646"/>
            <a:ext cx="5986130" cy="978196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rgbClr val="20E1D6"/>
                </a:solidFill>
              </a:rPr>
              <a:t>Donut chart for distribution</a:t>
            </a:r>
          </a:p>
        </p:txBody>
      </p:sp>
      <p:pic>
        <p:nvPicPr>
          <p:cNvPr id="11266" name="Picture 2" descr="DEPI – Briefing Report &amp; Ranking">
            <a:extLst>
              <a:ext uri="{FF2B5EF4-FFF2-40B4-BE49-F238E27FC236}">
                <a16:creationId xmlns:a16="http://schemas.microsoft.com/office/drawing/2014/main" id="{DCB3F1E0-40AB-2A68-7583-0BC7BCAE5A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7000" y="0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385725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E9BE2-2C4C-6775-DFE0-06294ECF0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7. Dashboards samples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0EC6F26-3C1F-9107-FC6D-1598AA1A93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0623" y="1825625"/>
            <a:ext cx="8190754" cy="4351338"/>
          </a:xfrm>
        </p:spPr>
      </p:pic>
      <p:pic>
        <p:nvPicPr>
          <p:cNvPr id="12290" name="Picture 2" descr="DEPI – Briefing Report &amp; Ranking">
            <a:extLst>
              <a:ext uri="{FF2B5EF4-FFF2-40B4-BE49-F238E27FC236}">
                <a16:creationId xmlns:a16="http://schemas.microsoft.com/office/drawing/2014/main" id="{DD022968-3638-5589-8CFF-D4785C9084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7000" y="0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001081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338F1-4BD8-5FAF-4945-68FBE7999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BF6D2-9A0E-6298-BF4B-469F7EC3D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7.Dashboards samples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4ED13DF-2778-414B-2B3E-F1BDE1B3DC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654" r="36825" b="15854"/>
          <a:stretch>
            <a:fillRect/>
          </a:stretch>
        </p:blipFill>
        <p:spPr>
          <a:xfrm>
            <a:off x="2276273" y="1977656"/>
            <a:ext cx="7643903" cy="3885997"/>
          </a:xfrm>
        </p:spPr>
      </p:pic>
      <p:pic>
        <p:nvPicPr>
          <p:cNvPr id="13314" name="Picture 2" descr="DEPI – Briefing Report &amp; Ranking">
            <a:extLst>
              <a:ext uri="{FF2B5EF4-FFF2-40B4-BE49-F238E27FC236}">
                <a16:creationId xmlns:a16="http://schemas.microsoft.com/office/drawing/2014/main" id="{C95AEE3D-518F-7A7C-A74D-0AC3FE2367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7000" y="46075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42344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CEC06C-5B7F-4413-3C03-30E65D7F61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8. Tableau dashboard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AF9AC83-BF49-4D74-E846-B18374F398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87" t="12517" r="19383" b="21405"/>
          <a:stretch>
            <a:fillRect/>
          </a:stretch>
        </p:blipFill>
        <p:spPr>
          <a:xfrm>
            <a:off x="2137144" y="2094615"/>
            <a:ext cx="7623544" cy="3857832"/>
          </a:xfrm>
        </p:spPr>
      </p:pic>
      <p:pic>
        <p:nvPicPr>
          <p:cNvPr id="14338" name="Picture 2" descr="DEPI – Briefing Report &amp; Ranking">
            <a:extLst>
              <a:ext uri="{FF2B5EF4-FFF2-40B4-BE49-F238E27FC236}">
                <a16:creationId xmlns:a16="http://schemas.microsoft.com/office/drawing/2014/main" id="{7DB96DB7-F7E3-AF03-3B8E-D41E812BCF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7000" y="5317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63977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E47E3-35C0-56D6-FB12-457EE88B6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9. Key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629770-9294-5AE3-381D-999BF2BBD0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en-US" sz="3600" dirty="0">
                <a:solidFill>
                  <a:srgbClr val="333333"/>
                </a:solidFill>
              </a:rPr>
              <a:t>We have a 5.94% return rate </a:t>
            </a:r>
          </a:p>
          <a:p>
            <a:pPr algn="ctr"/>
            <a:r>
              <a:rPr lang="en-US" sz="3600" dirty="0">
                <a:solidFill>
                  <a:srgbClr val="333333"/>
                </a:solidFill>
              </a:rPr>
              <a:t>Australia has the highest total sales &amp; profit</a:t>
            </a:r>
          </a:p>
          <a:p>
            <a:pPr algn="ctr"/>
            <a:r>
              <a:rPr lang="en-US" sz="3600" dirty="0">
                <a:solidFill>
                  <a:srgbClr val="333333"/>
                </a:solidFill>
              </a:rPr>
              <a:t>Road bikes are the most sold bikes</a:t>
            </a:r>
          </a:p>
          <a:p>
            <a:pPr algn="ctr"/>
            <a:r>
              <a:rPr lang="en-US" sz="3600" dirty="0">
                <a:solidFill>
                  <a:srgbClr val="333333"/>
                </a:solidFill>
              </a:rPr>
              <a:t>Bikes are the most profitable product </a:t>
            </a:r>
          </a:p>
          <a:p>
            <a:endParaRPr lang="en-US" dirty="0"/>
          </a:p>
        </p:txBody>
      </p:sp>
      <p:pic>
        <p:nvPicPr>
          <p:cNvPr id="15362" name="Picture 2" descr="DEPI – Briefing Report &amp; Ranking">
            <a:extLst>
              <a:ext uri="{FF2B5EF4-FFF2-40B4-BE49-F238E27FC236}">
                <a16:creationId xmlns:a16="http://schemas.microsoft.com/office/drawing/2014/main" id="{9FF2EA9E-20C1-6ED0-34FC-C32CE57ED6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7000" y="0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75832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8617C-2977-6202-D202-1FFA8CD785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938204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8000" b="1" i="1" dirty="0">
                <a:solidFill>
                  <a:srgbClr val="20E1D6"/>
                </a:solidFill>
              </a:rPr>
              <a:t>Thank you !</a:t>
            </a:r>
          </a:p>
        </p:txBody>
      </p:sp>
      <p:pic>
        <p:nvPicPr>
          <p:cNvPr id="17410" name="Picture 2" descr="DEPI – Briefing Report &amp; Ranking">
            <a:extLst>
              <a:ext uri="{FF2B5EF4-FFF2-40B4-BE49-F238E27FC236}">
                <a16:creationId xmlns:a16="http://schemas.microsoft.com/office/drawing/2014/main" id="{D05B9118-C587-51E1-AEB4-322AB26103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7000" y="0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Adventure Works: Analysis Techniques and RFM Model | by Xutiantony | Medium">
            <a:extLst>
              <a:ext uri="{FF2B5EF4-FFF2-40B4-BE49-F238E27FC236}">
                <a16:creationId xmlns:a16="http://schemas.microsoft.com/office/drawing/2014/main" id="{AE75BB29-9D5C-44A9-69BA-23B122A2E9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8400" y="4370092"/>
            <a:ext cx="4775200" cy="2387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6" descr="About US – Multi technology System">
            <a:extLst>
              <a:ext uri="{FF2B5EF4-FFF2-40B4-BE49-F238E27FC236}">
                <a16:creationId xmlns:a16="http://schemas.microsoft.com/office/drawing/2014/main" id="{82A1732C-2A34-A93B-3D70-1812936D1A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3375047" cy="22328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785371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138</TotalTime>
  <Words>284</Words>
  <Application>Microsoft Office PowerPoint</Application>
  <PresentationFormat>Widescreen</PresentationFormat>
  <Paragraphs>55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Arial</vt:lpstr>
      <vt:lpstr>Bahnschrift</vt:lpstr>
      <vt:lpstr>Calibri</vt:lpstr>
      <vt:lpstr>Calibri Light</vt:lpstr>
      <vt:lpstr>Wingdings</vt:lpstr>
      <vt:lpstr>Office Theme</vt:lpstr>
      <vt:lpstr>Bike sales analysis</vt:lpstr>
      <vt:lpstr>Our team members</vt:lpstr>
      <vt:lpstr>Agenda</vt:lpstr>
      <vt:lpstr>1. Project objectives</vt:lpstr>
      <vt:lpstr>2. Dataset overview</vt:lpstr>
      <vt:lpstr>3. Data cleaning using power query in PowerBI</vt:lpstr>
      <vt:lpstr>Some of the cleaning</vt:lpstr>
      <vt:lpstr>4. Data modeling</vt:lpstr>
      <vt:lpstr>5. DAX</vt:lpstr>
      <vt:lpstr>6. Sample visuals</vt:lpstr>
      <vt:lpstr>6. Sample visuals</vt:lpstr>
      <vt:lpstr>6. Sample visuals</vt:lpstr>
      <vt:lpstr>7. Dashboards samples</vt:lpstr>
      <vt:lpstr>7.Dashboards samples</vt:lpstr>
      <vt:lpstr>8. Tableau dashboard</vt:lpstr>
      <vt:lpstr>9. Key results</vt:lpstr>
      <vt:lpstr>Thank you 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yomna said</dc:creator>
  <cp:lastModifiedBy>yomna said</cp:lastModifiedBy>
  <cp:revision>3</cp:revision>
  <dcterms:created xsi:type="dcterms:W3CDTF">2025-11-30T18:15:36Z</dcterms:created>
  <dcterms:modified xsi:type="dcterms:W3CDTF">2025-11-30T20:34:33Z</dcterms:modified>
</cp:coreProperties>
</file>